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58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8B31-CA0E-06DA-365E-B33809337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1EE42-73E7-6772-252D-918695D25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8519C-CB86-56FE-023A-C5D75FF19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108FA-C913-E03C-FDCD-21E269F5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58A0A-FEBE-9889-4AF4-69686AEF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4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BA322-2373-E6B5-9143-383BCE07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214D5-D43C-AEC3-D325-52A3C53D3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B7C90-E36F-3022-310B-CEFC8B7B9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6E2AD-11F1-16F4-D3C8-7846DD7D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4BCDF-A305-9AA3-63BC-DE226BE6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0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6B16E-48A0-3086-CD0F-58D29A1A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F25A4-CF24-9359-1D6D-033E5B520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7D215-D3D8-B58A-3CDF-D1B616512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7780A-C5A9-CFDC-C11B-58C158FFF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73EC6-2A71-BBD3-3FE0-D206E467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4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CDD31-E077-7E0F-B3DD-0EABED48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11287-A3A1-BE83-996D-DD739D2B8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E8C85-93C7-9BDE-3A40-77D9691E9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D3F9A-C4C8-013E-9A10-28C4422B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76A3B-9350-C5CC-32E5-83968D6D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1B8FA-1F4F-BDE7-9D04-6BC2073D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06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49085-2E98-D2A0-7B46-0A8F2BF83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2A04C-A93D-D548-017A-A9D1FE296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192AD-D063-5312-32D5-20BA4E0FF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33D236-B44D-214E-BE6C-6BE2FCAEB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49194-2E39-40C0-00AF-D3BEB74FA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43D74F-1131-1D76-6383-803F43768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46C6E9-4AF5-EC30-A1DA-BA239E124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768C18-849A-3A0F-E636-3718298AA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04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233E-C951-EF90-06B5-311F233D8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67E00A-D8C4-3694-C9B1-26F6EA9C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DC852-274D-5DB7-97EB-DD0463D6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654B5-CB12-327B-346B-0B653F63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31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7EC32-02DE-5547-6559-7125216B8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3EF0F-5990-0B7E-2E65-2101D757A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CF58B-1C70-32A7-35CC-905D8203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88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94B1-6286-5510-E827-5DE5FE576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E4919-E5DE-5434-92D7-41A1F2BCD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473CF-C85C-1F75-303C-2BE701E34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627A4-5A29-E1C2-7D71-E4EFE93E9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398E9-4823-DDD6-4E5B-0B3A91644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9D3EC-1AEA-4287-393A-F0B3C65B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3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D995-8E3C-9561-1409-20928E287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F94BA0-A910-5E6D-D6B8-9E3A39A4A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E34DF-CC86-E409-5033-CF7422851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4638F-2A0F-AB9B-EB2D-3FCDE63D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5C893-F6E5-F7B9-28C6-10050F189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6DDF7-AF97-C5A4-9E33-93507B3B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7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D2CF8-2CC9-BE37-17D5-8E9487DE0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0DBF3-8E53-A5E3-1666-29C21114C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E1F53-3AC2-9A1C-51A3-2ACAA675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7EF0E-2DB6-55E9-7902-E554E0A2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16CFF-40D2-96BA-926D-F3DEF9C8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8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B52F0-6F8B-9E7D-FA39-09F45C207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1CE2B-8B3A-230E-77A3-E279FAB01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22C45-FCD0-E83F-5C97-A6FE2564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C19F2-B659-ECFE-9821-28DEBA8A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A5E0A-4F6B-96C1-0681-3E00402C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0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B5B81D-BB6A-4CB4-32E9-D2288896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076F1-26DC-8927-468A-A903467C3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7C424-9CBC-23EE-978D-D414E1A3A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B937-DABD-46D7-85C6-DDEAF9FE9BA9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420EA-ABDD-BA60-B399-B2699F8A9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1CFC0-F2F7-6CB8-C517-E17A5F9AD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86110-DB8F-46A3-92A0-17791766D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95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ey_management#Key_management_syste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eveloper/languages/python/python-quickstart-fle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ongodb.com/developer/languages/javascript/client-side-field-level-encryption-csfle-mongodb-node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5DEFB7-391E-89C0-6B4A-824DFEC11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6410129 w 12192000"/>
              <a:gd name="connsiteY1" fmla="*/ 0 h 6858000"/>
              <a:gd name="connsiteX2" fmla="*/ 6410129 w 12192000"/>
              <a:gd name="connsiteY2" fmla="*/ 6774024 h 6858000"/>
              <a:gd name="connsiteX3" fmla="*/ 12191998 w 12192000"/>
              <a:gd name="connsiteY3" fmla="*/ 6774024 h 6858000"/>
              <a:gd name="connsiteX4" fmla="*/ 12191998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6410129" y="0"/>
                </a:lnTo>
                <a:lnTo>
                  <a:pt x="6410129" y="6774024"/>
                </a:lnTo>
                <a:lnTo>
                  <a:pt x="12191998" y="6774024"/>
                </a:lnTo>
                <a:lnTo>
                  <a:pt x="12191998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AA293-8445-E9D2-C082-EF54EDBE7C34}"/>
              </a:ext>
            </a:extLst>
          </p:cNvPr>
          <p:cNvSpPr txBox="1"/>
          <p:nvPr/>
        </p:nvSpPr>
        <p:spPr>
          <a:xfrm>
            <a:off x="7184182" y="1550683"/>
            <a:ext cx="443204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600" b="1" dirty="0"/>
              <a:t>FLE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44AFD-08C7-8A07-E3D2-0B01E1477FA9}"/>
              </a:ext>
            </a:extLst>
          </p:cNvPr>
          <p:cNvSpPr txBox="1"/>
          <p:nvPr/>
        </p:nvSpPr>
        <p:spPr>
          <a:xfrm>
            <a:off x="7929271" y="4246491"/>
            <a:ext cx="2278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Field Level Encryption</a:t>
            </a:r>
          </a:p>
        </p:txBody>
      </p:sp>
    </p:spTree>
    <p:extLst>
      <p:ext uri="{BB962C8B-B14F-4D97-AF65-F5344CB8AC3E}">
        <p14:creationId xmlns:p14="http://schemas.microsoft.com/office/powerpoint/2010/main" val="3661421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B0580689-4600-92AD-3C31-1822D8C81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059" y="30214"/>
            <a:ext cx="4821040" cy="682778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632F6C7-8513-2A9D-0B26-02CEFDC08383}"/>
              </a:ext>
            </a:extLst>
          </p:cNvPr>
          <p:cNvSpPr txBox="1"/>
          <p:nvPr/>
        </p:nvSpPr>
        <p:spPr>
          <a:xfrm>
            <a:off x="7816001" y="1871098"/>
            <a:ext cx="39624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Setup Master Key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Euclid Circular A"/>
              </a:rPr>
              <a:t>The Local Key Provider is not suitable for production.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Euclid Circular A"/>
              </a:rPr>
              <a:t>The Local Key Provider is an insecure method of storage and is therefore </a:t>
            </a:r>
            <a:r>
              <a:rPr lang="en-US" b="1" i="0" dirty="0">
                <a:solidFill>
                  <a:srgbClr val="000000"/>
                </a:solidFill>
                <a:effectLst/>
                <a:latin typeface="Euclid Circular A"/>
              </a:rPr>
              <a:t>not recommended</a:t>
            </a:r>
            <a:r>
              <a:rPr lang="en-US" b="0" i="0" dirty="0">
                <a:solidFill>
                  <a:srgbClr val="000000"/>
                </a:solidFill>
                <a:effectLst/>
                <a:latin typeface="Euclid Circular A"/>
              </a:rPr>
              <a:t> if you plan to use CSFLE in production. Instead, you should configure a master key in a </a:t>
            </a:r>
            <a:r>
              <a:rPr lang="en-US" b="0" i="0" u="none" strike="noStrike" dirty="0">
                <a:solidFill>
                  <a:srgbClr val="006CFA"/>
                </a:solidFill>
                <a:effectLst/>
                <a:latin typeface="Euclid Circular A"/>
                <a:hlinkClick r:id="rId3"/>
              </a:rPr>
              <a:t>Key Management System</a:t>
            </a:r>
            <a:r>
              <a:rPr lang="en-US" b="0" i="0" dirty="0">
                <a:solidFill>
                  <a:srgbClr val="000000"/>
                </a:solidFill>
                <a:effectLst/>
                <a:latin typeface="Euclid Circular A"/>
              </a:rPr>
              <a:t> (KMS) which stores and decrypts your data encryption keys remotely.</a:t>
            </a:r>
          </a:p>
        </p:txBody>
      </p:sp>
      <p:pic>
        <p:nvPicPr>
          <p:cNvPr id="3" name="Picture 2" descr="Diagram that describes creating the master key when using a local&#10;provider">
            <a:extLst>
              <a:ext uri="{FF2B5EF4-FFF2-40B4-BE49-F238E27FC236}">
                <a16:creationId xmlns:a16="http://schemas.microsoft.com/office/drawing/2014/main" id="{A2A3DBC2-C40B-A0E3-3171-715D3DA31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78" y="2218412"/>
            <a:ext cx="5447530" cy="2451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99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B0580689-4600-92AD-3C31-1822D8C81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059" y="30214"/>
            <a:ext cx="4821040" cy="682778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632F6C7-8513-2A9D-0B26-02CEFDC08383}"/>
              </a:ext>
            </a:extLst>
          </p:cNvPr>
          <p:cNvSpPr txBox="1"/>
          <p:nvPr/>
        </p:nvSpPr>
        <p:spPr>
          <a:xfrm>
            <a:off x="7816001" y="1871098"/>
            <a:ext cx="39624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Querying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Euclid Circular A"/>
              </a:rPr>
              <a:t>The following diagram shows the steps taken by the client application and driver to query and decrypt field-level encrypted data.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FD897D9-7789-C569-7E50-477E338E0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99" y="1063688"/>
            <a:ext cx="6023689" cy="512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54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B0580689-4600-92AD-3C31-1822D8C81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059" y="30214"/>
            <a:ext cx="4821040" cy="682778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632F6C7-8513-2A9D-0B26-02CEFDC08383}"/>
              </a:ext>
            </a:extLst>
          </p:cNvPr>
          <p:cNvSpPr txBox="1"/>
          <p:nvPr/>
        </p:nvSpPr>
        <p:spPr>
          <a:xfrm>
            <a:off x="7816001" y="1871098"/>
            <a:ext cx="39624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Inserting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Euclid Circular A"/>
              </a:rPr>
              <a:t>The following diagram shows the steps taken by the client application and driver to perform a write of field-level encrypted data</a:t>
            </a:r>
          </a:p>
        </p:txBody>
      </p:sp>
      <p:pic>
        <p:nvPicPr>
          <p:cNvPr id="4098" name="Picture 2" descr="Diagram that shows the data flow for a write of field-level encrypted&#10;data">
            <a:extLst>
              <a:ext uri="{FF2B5EF4-FFF2-40B4-BE49-F238E27FC236}">
                <a16:creationId xmlns:a16="http://schemas.microsoft.com/office/drawing/2014/main" id="{BBBC52F4-47BC-8827-7752-1BB294B19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85" y="1515799"/>
            <a:ext cx="7074373" cy="4096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4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59861DE-D1A5-10C2-3FE2-1E12CD80F244}"/>
              </a:ext>
            </a:extLst>
          </p:cNvPr>
          <p:cNvGrpSpPr/>
          <p:nvPr/>
        </p:nvGrpSpPr>
        <p:grpSpPr>
          <a:xfrm>
            <a:off x="2768015" y="3139864"/>
            <a:ext cx="1771650" cy="971550"/>
            <a:chOff x="3476625" y="2295525"/>
            <a:chExt cx="1771650" cy="97155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8DBFF95-D06C-779B-2911-1E775A46694E}"/>
                </a:ext>
              </a:extLst>
            </p:cNvPr>
            <p:cNvSpPr/>
            <p:nvPr/>
          </p:nvSpPr>
          <p:spPr>
            <a:xfrm>
              <a:off x="3476625" y="2295525"/>
              <a:ext cx="1771650" cy="9715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E6BCA4-2126-3920-C85B-4E713B215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38856" y="2399499"/>
              <a:ext cx="744818" cy="73437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F2D753-85C2-0CFA-6297-3567DFD4B894}"/>
              </a:ext>
            </a:extLst>
          </p:cNvPr>
          <p:cNvGrpSpPr/>
          <p:nvPr/>
        </p:nvGrpSpPr>
        <p:grpSpPr>
          <a:xfrm>
            <a:off x="236708" y="2895091"/>
            <a:ext cx="1761207" cy="1151041"/>
            <a:chOff x="1100112" y="2485985"/>
            <a:chExt cx="1761207" cy="1151041"/>
          </a:xfrm>
        </p:grpSpPr>
        <p:pic>
          <p:nvPicPr>
            <p:cNvPr id="2052" name="Picture 4" descr="Lazy loading in React">
              <a:extLst>
                <a:ext uri="{FF2B5EF4-FFF2-40B4-BE49-F238E27FC236}">
                  <a16:creationId xmlns:a16="http://schemas.microsoft.com/office/drawing/2014/main" id="{74E10AA6-29EE-A307-0775-EAACF21AD2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0112" y="2790825"/>
              <a:ext cx="1271613" cy="846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196341-6D47-05D7-8490-2CE899046A91}"/>
                </a:ext>
              </a:extLst>
            </p:cNvPr>
            <p:cNvSpPr txBox="1"/>
            <p:nvPr/>
          </p:nvSpPr>
          <p:spPr>
            <a:xfrm>
              <a:off x="1556394" y="2485985"/>
              <a:ext cx="13049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FE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2EAE71-C8B9-E1B3-C289-D7CF5348FE5D}"/>
              </a:ext>
            </a:extLst>
          </p:cNvPr>
          <p:cNvCxnSpPr>
            <a:stCxn id="2052" idx="3"/>
            <a:endCxn id="4" idx="1"/>
          </p:cNvCxnSpPr>
          <p:nvPr/>
        </p:nvCxnSpPr>
        <p:spPr>
          <a:xfrm>
            <a:off x="1508321" y="3623032"/>
            <a:ext cx="1259694" cy="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898EA96-0A1C-91DE-C1C6-921D1A72DAD1}"/>
              </a:ext>
            </a:extLst>
          </p:cNvPr>
          <p:cNvCxnSpPr>
            <a:cxnSpLocks/>
          </p:cNvCxnSpPr>
          <p:nvPr/>
        </p:nvCxnSpPr>
        <p:spPr>
          <a:xfrm flipV="1">
            <a:off x="2012113" y="4108807"/>
            <a:ext cx="959725" cy="910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B0580689-4600-92AD-3C31-1822D8C81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6059" y="30214"/>
            <a:ext cx="4821040" cy="682778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632F6C7-8513-2A9D-0B26-02CEFDC08383}"/>
              </a:ext>
            </a:extLst>
          </p:cNvPr>
          <p:cNvSpPr txBox="1"/>
          <p:nvPr/>
        </p:nvSpPr>
        <p:spPr>
          <a:xfrm>
            <a:off x="7740560" y="2316505"/>
            <a:ext cx="3962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Saving/Updating</a:t>
            </a:r>
          </a:p>
          <a:p>
            <a:pPr marL="342900" indent="-342900">
              <a:buAutoNum type="arabicPeriod"/>
            </a:pPr>
            <a:r>
              <a:rPr lang="en-US" sz="1600" dirty="0"/>
              <a:t>FE makes a API call to save/update.</a:t>
            </a:r>
          </a:p>
          <a:p>
            <a:pPr marL="342900" indent="-342900">
              <a:buAutoNum type="arabicPeriod"/>
            </a:pPr>
            <a:r>
              <a:rPr lang="en-US" sz="1600" dirty="0"/>
              <a:t>BE will check the {Json Schema} which field to encrypt with the Data key.</a:t>
            </a:r>
          </a:p>
          <a:p>
            <a:pPr marL="342900" indent="-342900">
              <a:buAutoNum type="arabicPeriod"/>
            </a:pPr>
            <a:r>
              <a:rPr lang="en-US" sz="1600" dirty="0"/>
              <a:t>The payload with encrypted columns are stored in App Collection.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E64ACC-F0EE-FE88-3F06-E08D81C235DB}"/>
              </a:ext>
            </a:extLst>
          </p:cNvPr>
          <p:cNvSpPr txBox="1"/>
          <p:nvPr/>
        </p:nvSpPr>
        <p:spPr>
          <a:xfrm>
            <a:off x="7756680" y="178327"/>
            <a:ext cx="39624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When Backend Starts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BE gets Master Key from KMS.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BE will get Encrypted Data key from Key Vault Collection. It has to decrypt this key with the Master Key.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BE gets JSON Schema from  Schema Collection.</a:t>
            </a:r>
          </a:p>
          <a:p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1EB0F0-CAA9-5168-3BEC-AE2A8D840A1C}"/>
              </a:ext>
            </a:extLst>
          </p:cNvPr>
          <p:cNvSpPr txBox="1"/>
          <p:nvPr/>
        </p:nvSpPr>
        <p:spPr>
          <a:xfrm>
            <a:off x="7721937" y="4538482"/>
            <a:ext cx="422928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Querying</a:t>
            </a:r>
          </a:p>
          <a:p>
            <a:pPr marL="342900" indent="-342900">
              <a:buAutoNum type="arabicPeriod"/>
            </a:pPr>
            <a:r>
              <a:rPr lang="en-US" sz="1600" dirty="0"/>
              <a:t>FE makes a API call to query</a:t>
            </a:r>
          </a:p>
          <a:p>
            <a:pPr marL="342900" indent="-342900">
              <a:buAutoNum type="arabicPeriod"/>
            </a:pPr>
            <a:r>
              <a:rPr lang="en-US" sz="1600" dirty="0"/>
              <a:t>Get data from App Collection.</a:t>
            </a:r>
          </a:p>
          <a:p>
            <a:pPr marL="342900" indent="-342900">
              <a:buAutoNum type="arabicPeriod"/>
            </a:pPr>
            <a:r>
              <a:rPr lang="en-US" sz="1600" dirty="0"/>
              <a:t>BE will check the {Json Schema} which field to decrypt with the Data key</a:t>
            </a:r>
          </a:p>
          <a:p>
            <a:pPr marL="342900" indent="-342900">
              <a:buAutoNum type="arabicPeriod"/>
            </a:pPr>
            <a:r>
              <a:rPr lang="en-US" sz="1600" dirty="0"/>
              <a:t>The payload with the decrypted columns is send to FE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480B80-1D81-682A-A54B-7105701EC7D8}"/>
              </a:ext>
            </a:extLst>
          </p:cNvPr>
          <p:cNvSpPr txBox="1"/>
          <p:nvPr/>
        </p:nvSpPr>
        <p:spPr>
          <a:xfrm>
            <a:off x="5053055" y="3369529"/>
            <a:ext cx="837693" cy="512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Encrypted Data Key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334480-EFE0-3CA0-5E2E-9FCA0B5C38EB}"/>
              </a:ext>
            </a:extLst>
          </p:cNvPr>
          <p:cNvSpPr txBox="1"/>
          <p:nvPr/>
        </p:nvSpPr>
        <p:spPr>
          <a:xfrm>
            <a:off x="3877135" y="3402383"/>
            <a:ext cx="450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F89EE4F-73CD-0883-64EB-8A2E27938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203951" y="1552533"/>
            <a:ext cx="856155" cy="829812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2DFAC9-05EA-5992-2475-3449454382DD}"/>
              </a:ext>
            </a:extLst>
          </p:cNvPr>
          <p:cNvSpPr txBox="1"/>
          <p:nvPr/>
        </p:nvSpPr>
        <p:spPr>
          <a:xfrm>
            <a:off x="6116468" y="1357778"/>
            <a:ext cx="111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App Collection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EE762F-D59C-6278-3B67-8877E0E09284}"/>
              </a:ext>
            </a:extLst>
          </p:cNvPr>
          <p:cNvGrpSpPr/>
          <p:nvPr/>
        </p:nvGrpSpPr>
        <p:grpSpPr>
          <a:xfrm>
            <a:off x="5921726" y="3096348"/>
            <a:ext cx="1504333" cy="1278452"/>
            <a:chOff x="5921726" y="3096348"/>
            <a:chExt cx="1504333" cy="127845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11F7269-3D69-B36E-69BE-D9A0A3A88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24076" y="3280485"/>
              <a:ext cx="836030" cy="1094315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3418F37-5595-64DF-9E9B-6DBCE8E191C0}"/>
                </a:ext>
              </a:extLst>
            </p:cNvPr>
            <p:cNvSpPr txBox="1"/>
            <p:nvPr/>
          </p:nvSpPr>
          <p:spPr>
            <a:xfrm>
              <a:off x="5921726" y="3096348"/>
              <a:ext cx="1504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Key Vault Collection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C7D8F2-5B4E-6917-0FF4-B408702BF642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4539665" y="3611027"/>
            <a:ext cx="1642551" cy="14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BF0726F-6099-2383-A8F9-299A6A0C1598}"/>
              </a:ext>
            </a:extLst>
          </p:cNvPr>
          <p:cNvCxnSpPr>
            <a:cxnSpLocks/>
            <a:stCxn id="4" idx="0"/>
            <a:endCxn id="10" idx="1"/>
          </p:cNvCxnSpPr>
          <p:nvPr/>
        </p:nvCxnSpPr>
        <p:spPr>
          <a:xfrm rot="5400000" flipH="1" flipV="1">
            <a:off x="4342683" y="1278597"/>
            <a:ext cx="1172425" cy="255011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1B2299A-AAFC-1566-93F2-65D20728E3E9}"/>
              </a:ext>
            </a:extLst>
          </p:cNvPr>
          <p:cNvGrpSpPr/>
          <p:nvPr/>
        </p:nvGrpSpPr>
        <p:grpSpPr>
          <a:xfrm>
            <a:off x="1547059" y="4861390"/>
            <a:ext cx="857089" cy="1260294"/>
            <a:chOff x="2744375" y="4995474"/>
            <a:chExt cx="857089" cy="1260294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C3B7C24-ABBA-D84A-53A0-D8F02CBA4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44375" y="4995474"/>
              <a:ext cx="857089" cy="103985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818C5C9-9F44-3192-6FA2-444325CB6DCD}"/>
                </a:ext>
              </a:extLst>
            </p:cNvPr>
            <p:cNvSpPr txBox="1"/>
            <p:nvPr/>
          </p:nvSpPr>
          <p:spPr>
            <a:xfrm>
              <a:off x="2957669" y="5978769"/>
              <a:ext cx="6236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KMS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C07B251-FF72-3796-167E-265D83A22C24}"/>
              </a:ext>
            </a:extLst>
          </p:cNvPr>
          <p:cNvSpPr txBox="1"/>
          <p:nvPr/>
        </p:nvSpPr>
        <p:spPr>
          <a:xfrm>
            <a:off x="1887581" y="4502446"/>
            <a:ext cx="992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Master Key</a:t>
            </a:r>
          </a:p>
        </p:txBody>
      </p:sp>
      <p:pic>
        <p:nvPicPr>
          <p:cNvPr id="47" name="Content Placeholder 9">
            <a:extLst>
              <a:ext uri="{FF2B5EF4-FFF2-40B4-BE49-F238E27FC236}">
                <a16:creationId xmlns:a16="http://schemas.microsoft.com/office/drawing/2014/main" id="{7AB997CD-EBA6-6843-1E3E-E21290711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216" y="5300974"/>
            <a:ext cx="914199" cy="88607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35777EE-2171-7A29-72BE-4740CFAA0732}"/>
              </a:ext>
            </a:extLst>
          </p:cNvPr>
          <p:cNvSpPr txBox="1"/>
          <p:nvPr/>
        </p:nvSpPr>
        <p:spPr>
          <a:xfrm>
            <a:off x="5974548" y="5068163"/>
            <a:ext cx="1345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Schema Collection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EF97B64-EE55-C651-2416-D5596C02CD7A}"/>
              </a:ext>
            </a:extLst>
          </p:cNvPr>
          <p:cNvCxnSpPr>
            <a:stCxn id="47" idx="1"/>
            <a:endCxn id="4" idx="2"/>
          </p:cNvCxnSpPr>
          <p:nvPr/>
        </p:nvCxnSpPr>
        <p:spPr>
          <a:xfrm rot="10800000">
            <a:off x="3653840" y="4111415"/>
            <a:ext cx="2528376" cy="16325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FFB8F8B-FF82-7861-2D89-F6A6AF5CC43E}"/>
              </a:ext>
            </a:extLst>
          </p:cNvPr>
          <p:cNvGrpSpPr/>
          <p:nvPr/>
        </p:nvGrpSpPr>
        <p:grpSpPr>
          <a:xfrm>
            <a:off x="4479140" y="5117501"/>
            <a:ext cx="1162398" cy="861275"/>
            <a:chOff x="4508961" y="4430328"/>
            <a:chExt cx="1162398" cy="86127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1A5DFA6-23CC-A948-E440-477FC97F5EBF}"/>
                </a:ext>
              </a:extLst>
            </p:cNvPr>
            <p:cNvSpPr txBox="1"/>
            <p:nvPr/>
          </p:nvSpPr>
          <p:spPr>
            <a:xfrm>
              <a:off x="4508961" y="5014604"/>
              <a:ext cx="1162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{Json Schema}</a:t>
              </a: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BCAE10C-903B-0021-0128-029CB6EAE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65942" y="4430328"/>
              <a:ext cx="430672" cy="5569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6008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B0580689-4600-92AD-3C31-1822D8C81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059" y="30214"/>
            <a:ext cx="4821040" cy="682778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632F6C7-8513-2A9D-0B26-02CEFDC08383}"/>
              </a:ext>
            </a:extLst>
          </p:cNvPr>
          <p:cNvSpPr txBox="1"/>
          <p:nvPr/>
        </p:nvSpPr>
        <p:spPr>
          <a:xfrm>
            <a:off x="7816001" y="1871098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References</a:t>
            </a:r>
            <a:endParaRPr lang="en-US" b="0" i="0" dirty="0">
              <a:solidFill>
                <a:srgbClr val="000000"/>
              </a:solidFill>
              <a:effectLst/>
              <a:latin typeface="Euclid Circular 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46BBCC-0487-6759-3E14-D02BFE13D922}"/>
              </a:ext>
            </a:extLst>
          </p:cNvPr>
          <p:cNvSpPr txBox="1"/>
          <p:nvPr/>
        </p:nvSpPr>
        <p:spPr>
          <a:xfrm>
            <a:off x="615821" y="2455873"/>
            <a:ext cx="61488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effectLst/>
                <a:latin typeface="Consolas" panose="020B0609020204030204" pitchFamily="49" charset="0"/>
                <a:hlinkClick r:id="rId3"/>
              </a:rPr>
              <a:t>https://www.mongodb.com/developer/languages/python/python-quickstart-fle/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b="0" dirty="0"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effectLst/>
                <a:latin typeface="Consolas" panose="020B0609020204030204" pitchFamily="49" charset="0"/>
                <a:hlinkClick r:id="rId4"/>
              </a:rPr>
              <a:t>https://www.mongodb.com/developer/languages/javascript/client-side-field-level-encryption-csfle-mongodb-node/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endParaRPr 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61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B0580689-4600-92AD-3C31-1822D8C81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059" y="30214"/>
            <a:ext cx="4821040" cy="682778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632F6C7-8513-2A9D-0B26-02CEFDC08383}"/>
              </a:ext>
            </a:extLst>
          </p:cNvPr>
          <p:cNvSpPr txBox="1"/>
          <p:nvPr/>
        </p:nvSpPr>
        <p:spPr>
          <a:xfrm>
            <a:off x="7816001" y="1871098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err="1"/>
              <a:t>Hashicorp</a:t>
            </a:r>
            <a:r>
              <a:rPr lang="en-US" sz="3200" b="1" u="sng" dirty="0"/>
              <a:t> Vault</a:t>
            </a:r>
            <a:endParaRPr lang="en-US" b="0" i="0" dirty="0">
              <a:solidFill>
                <a:srgbClr val="000000"/>
              </a:solidFill>
              <a:effectLst/>
              <a:latin typeface="Euclid Circular 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76B00-27BA-C175-C044-4FF122180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99" y="2137896"/>
            <a:ext cx="6849748" cy="326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37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287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Euclid Circular A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 FLE </dc:title>
  <dc:creator>ksericpro eric see</dc:creator>
  <cp:lastModifiedBy>ksericpro eric see</cp:lastModifiedBy>
  <cp:revision>47</cp:revision>
  <dcterms:created xsi:type="dcterms:W3CDTF">2023-11-29T06:46:23Z</dcterms:created>
  <dcterms:modified xsi:type="dcterms:W3CDTF">2023-11-30T02:54:02Z</dcterms:modified>
</cp:coreProperties>
</file>